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_header"/>
          <p:cNvSpPr/>
          <p:nvPr/>
        </p:nvSpPr>
        <p:spPr>
          <a:xfrm>
            <a:off x="609585" y="3223265"/>
            <a:ext cx="10972526" cy="533387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_rule"/>
          <p:cNvSpPr/>
          <p:nvPr/>
        </p:nvSpPr>
        <p:spPr>
          <a:xfrm>
            <a:off x="609585" y="1577386"/>
            <a:ext cx="10972526" cy="0"/>
          </a:xfrm>
          <a:prstGeom prst="line">
            <a:avLst/>
          </a:prstGeom>
          <a:noFill/>
          <a:ln w="30480">
            <a:solidFill>
              <a:srgbClr val="087F74"/>
            </a:solidFill>
          </a:ln>
        </p:spPr>
        <p:txBody>
          <a:bodyPr/>
          <a:lstStyle/>
          <a:p/>
        </p:txBody>
      </p:sp>
      <p:sp>
        <p:nvSpPr>
          <p:cNvPr id="4" name="row_rule_0"/>
          <p:cNvSpPr/>
          <p:nvPr/>
        </p:nvSpPr>
        <p:spPr>
          <a:xfrm>
            <a:off x="609585" y="3223265"/>
            <a:ext cx="10972526" cy="0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sp>
        <p:nvSpPr>
          <p:cNvPr id="5" name="row_rule_1"/>
          <p:cNvSpPr/>
          <p:nvPr/>
        </p:nvSpPr>
        <p:spPr>
          <a:xfrm>
            <a:off x="609585" y="3756652"/>
            <a:ext cx="10972526" cy="0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sp>
        <p:nvSpPr>
          <p:cNvPr id="6" name="row_rule_2"/>
          <p:cNvSpPr/>
          <p:nvPr/>
        </p:nvSpPr>
        <p:spPr>
          <a:xfrm>
            <a:off x="609585" y="4290038"/>
            <a:ext cx="10972526" cy="0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sp>
        <p:nvSpPr>
          <p:cNvPr id="7" name="row_rule_3"/>
          <p:cNvSpPr/>
          <p:nvPr/>
        </p:nvSpPr>
        <p:spPr>
          <a:xfrm>
            <a:off x="609585" y="4823425"/>
            <a:ext cx="10972526" cy="0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sp>
        <p:nvSpPr>
          <p:cNvPr id="8" name="row_rule_4"/>
          <p:cNvSpPr/>
          <p:nvPr/>
        </p:nvSpPr>
        <p:spPr>
          <a:xfrm>
            <a:off x="609585" y="5356812"/>
            <a:ext cx="10972526" cy="0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sp>
        <p:nvSpPr>
          <p:cNvPr id="9" name="col_rule_0"/>
          <p:cNvSpPr/>
          <p:nvPr/>
        </p:nvSpPr>
        <p:spPr>
          <a:xfrm>
            <a:off x="609585" y="3223265"/>
            <a:ext cx="0" cy="2133547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sp>
        <p:nvSpPr>
          <p:cNvPr id="10" name="col_rule_1"/>
          <p:cNvSpPr/>
          <p:nvPr/>
        </p:nvSpPr>
        <p:spPr>
          <a:xfrm>
            <a:off x="3276518" y="3223265"/>
            <a:ext cx="0" cy="2133547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sp>
        <p:nvSpPr>
          <p:cNvPr id="11" name="col_rule_2"/>
          <p:cNvSpPr/>
          <p:nvPr/>
        </p:nvSpPr>
        <p:spPr>
          <a:xfrm>
            <a:off x="5410065" y="3223265"/>
            <a:ext cx="0" cy="2133547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sp>
        <p:nvSpPr>
          <p:cNvPr id="12" name="col_rule_3"/>
          <p:cNvSpPr/>
          <p:nvPr/>
        </p:nvSpPr>
        <p:spPr>
          <a:xfrm>
            <a:off x="7543611" y="3223265"/>
            <a:ext cx="0" cy="2133547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sp>
        <p:nvSpPr>
          <p:cNvPr id="13" name="col_rule_4"/>
          <p:cNvSpPr/>
          <p:nvPr/>
        </p:nvSpPr>
        <p:spPr>
          <a:xfrm>
            <a:off x="11582110" y="3223265"/>
            <a:ext cx="0" cy="2133547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09585" y="411555"/>
            <a:ext cx="6095848" cy="68578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479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季度项目复盘</a:t>
            </a:r>
            <a:endParaRPr lang="zh-CN" sz="3479"/>
          </a:p>
        </p:txBody>
      </p:sp>
      <p:sp>
        <p:nvSpPr>
          <p:cNvPr id="15" name="TextBox 15"/>
          <p:cNvSpPr txBox="1"/>
          <p:nvPr/>
        </p:nvSpPr>
        <p:spPr>
          <a:xfrm>
            <a:off x="609585" y="1097338"/>
            <a:ext cx="9143771" cy="39623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8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示例：一个内容交付项目的季度复盘。全部数字均为演示数据。</a:t>
            </a:r>
            <a:endParaRPr lang="zh-CN" sz="1680"/>
          </a:p>
        </p:txBody>
      </p:sp>
      <p:sp>
        <p:nvSpPr>
          <p:cNvPr id="16" name="TextBox 16"/>
          <p:cNvSpPr txBox="1"/>
          <p:nvPr/>
        </p:nvSpPr>
        <p:spPr>
          <a:xfrm>
            <a:off x="609585" y="1813600"/>
            <a:ext cx="1371566" cy="91437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456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lang="zh-CN" sz="4560"/>
          </a:p>
        </p:txBody>
      </p:sp>
      <p:sp>
        <p:nvSpPr>
          <p:cNvPr id="17" name="TextBox 17"/>
          <p:cNvSpPr txBox="1"/>
          <p:nvPr/>
        </p:nvSpPr>
        <p:spPr>
          <a:xfrm>
            <a:off x="609585" y="2636540"/>
            <a:ext cx="2666933" cy="38099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8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计划项目（演示）</a:t>
            </a:r>
            <a:endParaRPr lang="zh-CN" sz="1680"/>
          </a:p>
        </p:txBody>
      </p:sp>
      <p:sp>
        <p:nvSpPr>
          <p:cNvPr id="18" name="TextBox 18"/>
          <p:cNvSpPr txBox="1"/>
          <p:nvPr/>
        </p:nvSpPr>
        <p:spPr>
          <a:xfrm>
            <a:off x="4419490" y="1813600"/>
            <a:ext cx="1371566" cy="91437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456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9</a:t>
            </a:r>
            <a:endParaRPr lang="zh-CN" sz="4560"/>
          </a:p>
        </p:txBody>
      </p:sp>
      <p:sp>
        <p:nvSpPr>
          <p:cNvPr id="19" name="TextBox 19"/>
          <p:cNvSpPr txBox="1"/>
          <p:nvPr/>
        </p:nvSpPr>
        <p:spPr>
          <a:xfrm>
            <a:off x="4419490" y="2636540"/>
            <a:ext cx="2666933" cy="38099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8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按期完成（演示）</a:t>
            </a:r>
            <a:endParaRPr lang="zh-CN" sz="1680"/>
          </a:p>
        </p:txBody>
      </p:sp>
      <p:sp>
        <p:nvSpPr>
          <p:cNvPr id="20" name="TextBox 20"/>
          <p:cNvSpPr txBox="1"/>
          <p:nvPr/>
        </p:nvSpPr>
        <p:spPr>
          <a:xfrm>
            <a:off x="8229394" y="1813600"/>
            <a:ext cx="1371566" cy="91437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456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4560"/>
          </a:p>
        </p:txBody>
      </p:sp>
      <p:sp>
        <p:nvSpPr>
          <p:cNvPr id="21" name="TextBox 21"/>
          <p:cNvSpPr txBox="1"/>
          <p:nvPr/>
        </p:nvSpPr>
        <p:spPr>
          <a:xfrm>
            <a:off x="8229394" y="2636540"/>
            <a:ext cx="2666933" cy="38099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8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延期项目（演示）</a:t>
            </a:r>
            <a:endParaRPr lang="zh-CN" sz="1680"/>
          </a:p>
        </p:txBody>
      </p:sp>
      <p:sp>
        <p:nvSpPr>
          <p:cNvPr id="22" name="TextBox 22"/>
          <p:cNvSpPr txBox="1"/>
          <p:nvPr/>
        </p:nvSpPr>
        <p:spPr>
          <a:xfrm>
            <a:off x="777221" y="3352802"/>
            <a:ext cx="2285943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阶段</a:t>
            </a:r>
            <a:endParaRPr lang="zh-CN" sz="1620"/>
          </a:p>
        </p:txBody>
      </p:sp>
      <p:sp>
        <p:nvSpPr>
          <p:cNvPr id="23" name="TextBox 23"/>
          <p:cNvSpPr txBox="1"/>
          <p:nvPr/>
        </p:nvSpPr>
        <p:spPr>
          <a:xfrm>
            <a:off x="3444154" y="3352802"/>
            <a:ext cx="1828754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计划（演示）</a:t>
            </a:r>
            <a:endParaRPr lang="zh-CN" sz="1620"/>
          </a:p>
        </p:txBody>
      </p:sp>
      <p:sp>
        <p:nvSpPr>
          <p:cNvPr id="24" name="TextBox 24"/>
          <p:cNvSpPr txBox="1"/>
          <p:nvPr/>
        </p:nvSpPr>
        <p:spPr>
          <a:xfrm>
            <a:off x="5577701" y="3352802"/>
            <a:ext cx="1828754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完成（演示）</a:t>
            </a:r>
            <a:endParaRPr lang="zh-CN" sz="1620"/>
          </a:p>
        </p:txBody>
      </p:sp>
      <p:sp>
        <p:nvSpPr>
          <p:cNvPr id="25" name="TextBox 25"/>
          <p:cNvSpPr txBox="1"/>
          <p:nvPr/>
        </p:nvSpPr>
        <p:spPr>
          <a:xfrm>
            <a:off x="7711247" y="3352802"/>
            <a:ext cx="3581310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复盘记录</a:t>
            </a:r>
            <a:endParaRPr lang="zh-CN" sz="1620"/>
          </a:p>
        </p:txBody>
      </p:sp>
      <p:sp>
        <p:nvSpPr>
          <p:cNvPr id="26" name="TextBox 26"/>
          <p:cNvSpPr txBox="1"/>
          <p:nvPr/>
        </p:nvSpPr>
        <p:spPr>
          <a:xfrm>
            <a:off x="777221" y="3886189"/>
            <a:ext cx="2285943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样例制作</a:t>
            </a:r>
            <a:endParaRPr lang="zh-CN" sz="1620"/>
          </a:p>
        </p:txBody>
      </p:sp>
      <p:sp>
        <p:nvSpPr>
          <p:cNvPr id="27" name="TextBox 27"/>
          <p:cNvSpPr txBox="1"/>
          <p:nvPr/>
        </p:nvSpPr>
        <p:spPr>
          <a:xfrm>
            <a:off x="3444154" y="3886189"/>
            <a:ext cx="1828754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4 项</a:t>
            </a:r>
            <a:endParaRPr lang="zh-CN" sz="1620"/>
          </a:p>
        </p:txBody>
      </p:sp>
      <p:sp>
        <p:nvSpPr>
          <p:cNvPr id="28" name="TextBox 28"/>
          <p:cNvSpPr txBox="1"/>
          <p:nvPr/>
        </p:nvSpPr>
        <p:spPr>
          <a:xfrm>
            <a:off x="5577701" y="3886189"/>
            <a:ext cx="1828754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4 项</a:t>
            </a:r>
            <a:endParaRPr lang="zh-CN" sz="1620"/>
          </a:p>
        </p:txBody>
      </p:sp>
      <p:sp>
        <p:nvSpPr>
          <p:cNvPr id="29" name="TextBox 29"/>
          <p:cNvSpPr txBox="1"/>
          <p:nvPr/>
        </p:nvSpPr>
        <p:spPr>
          <a:xfrm>
            <a:off x="7711247" y="3886189"/>
            <a:ext cx="3581310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先明确验收范围</a:t>
            </a:r>
            <a:endParaRPr lang="zh-CN" sz="1620"/>
          </a:p>
        </p:txBody>
      </p:sp>
      <p:sp>
        <p:nvSpPr>
          <p:cNvPr id="30" name="TextBox 30"/>
          <p:cNvSpPr txBox="1"/>
          <p:nvPr/>
        </p:nvSpPr>
        <p:spPr>
          <a:xfrm>
            <a:off x="777221" y="4419575"/>
            <a:ext cx="2285943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教程整理</a:t>
            </a:r>
            <a:endParaRPr lang="zh-CN" sz="1620"/>
          </a:p>
        </p:txBody>
      </p:sp>
      <p:sp>
        <p:nvSpPr>
          <p:cNvPr id="31" name="TextBox 31"/>
          <p:cNvSpPr txBox="1"/>
          <p:nvPr/>
        </p:nvSpPr>
        <p:spPr>
          <a:xfrm>
            <a:off x="3444154" y="4419575"/>
            <a:ext cx="1828754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5 项</a:t>
            </a:r>
            <a:endParaRPr lang="zh-CN" sz="1620"/>
          </a:p>
        </p:txBody>
      </p:sp>
      <p:sp>
        <p:nvSpPr>
          <p:cNvPr id="32" name="TextBox 32"/>
          <p:cNvSpPr txBox="1"/>
          <p:nvPr/>
        </p:nvSpPr>
        <p:spPr>
          <a:xfrm>
            <a:off x="5577701" y="4419575"/>
            <a:ext cx="1828754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3 项</a:t>
            </a:r>
            <a:endParaRPr lang="zh-CN" sz="1620"/>
          </a:p>
        </p:txBody>
      </p:sp>
      <p:sp>
        <p:nvSpPr>
          <p:cNvPr id="33" name="TextBox 33"/>
          <p:cNvSpPr txBox="1"/>
          <p:nvPr/>
        </p:nvSpPr>
        <p:spPr>
          <a:xfrm>
            <a:off x="7711247" y="4419575"/>
            <a:ext cx="3581310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补齐关键操作截图</a:t>
            </a:r>
            <a:endParaRPr lang="zh-CN" sz="1620"/>
          </a:p>
        </p:txBody>
      </p:sp>
      <p:sp>
        <p:nvSpPr>
          <p:cNvPr id="34" name="TextBox 34"/>
          <p:cNvSpPr txBox="1"/>
          <p:nvPr/>
        </p:nvSpPr>
        <p:spPr>
          <a:xfrm>
            <a:off x="777221" y="4952962"/>
            <a:ext cx="2285943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交付检查</a:t>
            </a:r>
            <a:endParaRPr lang="zh-CN" sz="1620"/>
          </a:p>
        </p:txBody>
      </p:sp>
      <p:sp>
        <p:nvSpPr>
          <p:cNvPr id="35" name="TextBox 35"/>
          <p:cNvSpPr txBox="1"/>
          <p:nvPr/>
        </p:nvSpPr>
        <p:spPr>
          <a:xfrm>
            <a:off x="3444154" y="4952962"/>
            <a:ext cx="1828754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3 项</a:t>
            </a:r>
            <a:endParaRPr lang="zh-CN" sz="1620"/>
          </a:p>
        </p:txBody>
      </p:sp>
      <p:sp>
        <p:nvSpPr>
          <p:cNvPr id="36" name="TextBox 36"/>
          <p:cNvSpPr txBox="1"/>
          <p:nvPr/>
        </p:nvSpPr>
        <p:spPr>
          <a:xfrm>
            <a:off x="5577701" y="4952962"/>
            <a:ext cx="1828754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2 项</a:t>
            </a:r>
            <a:endParaRPr lang="zh-CN" sz="1620"/>
          </a:p>
        </p:txBody>
      </p:sp>
      <p:sp>
        <p:nvSpPr>
          <p:cNvPr id="37" name="TextBox 37"/>
          <p:cNvSpPr txBox="1"/>
          <p:nvPr/>
        </p:nvSpPr>
        <p:spPr>
          <a:xfrm>
            <a:off x="7711247" y="4952962"/>
            <a:ext cx="3581310" cy="36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增加可编辑性检查</a:t>
            </a:r>
            <a:endParaRPr lang="zh-CN" sz="1620"/>
          </a:p>
        </p:txBody>
      </p:sp>
      <p:sp>
        <p:nvSpPr>
          <p:cNvPr id="38" name="TextBox 38"/>
          <p:cNvSpPr txBox="1"/>
          <p:nvPr/>
        </p:nvSpPr>
        <p:spPr>
          <a:xfrm>
            <a:off x="609585" y="5722563"/>
            <a:ext cx="9524762" cy="44194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下季改进：每个样例先约定验收项，再开始制作。</a:t>
            </a:r>
            <a:endParaRPr lang="zh-CN" sz="1800"/>
          </a:p>
        </p:txBody>
      </p:sp>
      <p:sp>
        <p:nvSpPr>
          <p:cNvPr id="39" name="TextBox 39"/>
          <p:cNvSpPr txBox="1"/>
          <p:nvPr/>
        </p:nvSpPr>
        <p:spPr>
          <a:xfrm>
            <a:off x="609585" y="6370246"/>
            <a:ext cx="9524762" cy="32765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自创演示材料，不代表客户案例、真实业绩或工具准确率。</a:t>
            </a:r>
            <a:endParaRPr lang="zh-CN" sz="13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_1"/>
          <p:cNvSpPr/>
          <p:nvPr/>
        </p:nvSpPr>
        <p:spPr>
          <a:xfrm>
            <a:off x="609585" y="2286029"/>
            <a:ext cx="2285943" cy="1600160"/>
          </a:xfrm>
          <a:prstGeom prst="rect">
            <a:avLst/>
          </a:prstGeom>
          <a:solidFill>
            <a:srgbClr val="F4F8F6"/>
          </a:solidFill>
          <a:ln w="22860">
            <a:solidFill>
              <a:srgbClr val="087F74"/>
            </a:solidFill>
          </a:ln>
        </p:spPr>
        <p:txBody>
          <a:bodyPr/>
          <a:lstStyle/>
          <a:p/>
        </p:txBody>
      </p:sp>
      <p:sp>
        <p:nvSpPr>
          <p:cNvPr id="3" name="node_2"/>
          <p:cNvSpPr/>
          <p:nvPr/>
        </p:nvSpPr>
        <p:spPr>
          <a:xfrm>
            <a:off x="3505112" y="2286029"/>
            <a:ext cx="2285943" cy="1600160"/>
          </a:xfrm>
          <a:prstGeom prst="rect">
            <a:avLst/>
          </a:prstGeom>
          <a:solidFill>
            <a:srgbClr val="F4F8F6"/>
          </a:solidFill>
          <a:ln w="22860">
            <a:solidFill>
              <a:srgbClr val="087F74"/>
            </a:solidFill>
          </a:ln>
        </p:spPr>
        <p:txBody>
          <a:bodyPr/>
          <a:lstStyle/>
          <a:p/>
        </p:txBody>
      </p:sp>
      <p:sp>
        <p:nvSpPr>
          <p:cNvPr id="4" name="node_3"/>
          <p:cNvSpPr/>
          <p:nvPr/>
        </p:nvSpPr>
        <p:spPr>
          <a:xfrm>
            <a:off x="6400640" y="2286029"/>
            <a:ext cx="2285943" cy="1600160"/>
          </a:xfrm>
          <a:prstGeom prst="rect">
            <a:avLst/>
          </a:prstGeom>
          <a:solidFill>
            <a:srgbClr val="F4F8F6"/>
          </a:solidFill>
          <a:ln w="22860">
            <a:solidFill>
              <a:srgbClr val="087F74"/>
            </a:solidFill>
          </a:ln>
        </p:spPr>
        <p:txBody>
          <a:bodyPr/>
          <a:lstStyle/>
          <a:p/>
        </p:txBody>
      </p:sp>
      <p:sp>
        <p:nvSpPr>
          <p:cNvPr id="5" name="node_4"/>
          <p:cNvSpPr/>
          <p:nvPr/>
        </p:nvSpPr>
        <p:spPr>
          <a:xfrm>
            <a:off x="9296168" y="2286029"/>
            <a:ext cx="2285943" cy="1600160"/>
          </a:xfrm>
          <a:prstGeom prst="rect">
            <a:avLst/>
          </a:prstGeom>
          <a:solidFill>
            <a:srgbClr val="F4F8F6"/>
          </a:solidFill>
          <a:ln w="22860">
            <a:solidFill>
              <a:srgbClr val="087F74"/>
            </a:solidFill>
          </a:ln>
        </p:spPr>
        <p:txBody>
          <a:bodyPr/>
          <a:lstStyle/>
          <a:p/>
        </p:txBody>
      </p:sp>
      <p:sp>
        <p:nvSpPr>
          <p:cNvPr id="6" name="title_rule"/>
          <p:cNvSpPr/>
          <p:nvPr/>
        </p:nvSpPr>
        <p:spPr>
          <a:xfrm>
            <a:off x="609585" y="1577386"/>
            <a:ext cx="10972526" cy="0"/>
          </a:xfrm>
          <a:prstGeom prst="line">
            <a:avLst/>
          </a:prstGeom>
          <a:noFill/>
          <a:ln w="30480">
            <a:solidFill>
              <a:srgbClr val="087F74"/>
            </a:solidFill>
          </a:ln>
        </p:spPr>
        <p:txBody>
          <a:bodyPr/>
          <a:lstStyle/>
          <a:p/>
        </p:txBody>
      </p:sp>
      <p:sp>
        <p:nvSpPr>
          <p:cNvPr id="7" name="footer_rule"/>
          <p:cNvSpPr/>
          <p:nvPr/>
        </p:nvSpPr>
        <p:spPr>
          <a:xfrm>
            <a:off x="609585" y="5638745"/>
            <a:ext cx="10972526" cy="0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/>
        </p:txBody>
      </p:sp>
      <p:cxnSp>
        <p:nvCxnSpPr>
          <p:cNvPr id="8" name="edge_1"/>
          <p:cNvCxnSpPr/>
          <p:nvPr/>
        </p:nvCxnSpPr>
        <p:spPr>
          <a:xfrm>
            <a:off x="2895528" y="3086109"/>
            <a:ext cx="609585" cy="0"/>
          </a:xfrm>
          <a:prstGeom prst="line">
            <a:avLst/>
          </a:prstGeom>
          <a:noFill/>
          <a:ln w="30480">
            <a:solidFill>
              <a:srgbClr val="087F74"/>
            </a:solidFill>
            <a:tailEnd type="triangle" w="lg" len="med"/>
          </a:ln>
        </p:spPr>
      </p:cxnSp>
      <p:cxnSp>
        <p:nvCxnSpPr>
          <p:cNvPr id="9" name="edge_2"/>
          <p:cNvCxnSpPr/>
          <p:nvPr/>
        </p:nvCxnSpPr>
        <p:spPr>
          <a:xfrm>
            <a:off x="5791055" y="3086109"/>
            <a:ext cx="609585" cy="0"/>
          </a:xfrm>
          <a:prstGeom prst="line">
            <a:avLst/>
          </a:prstGeom>
          <a:noFill/>
          <a:ln w="30480">
            <a:solidFill>
              <a:srgbClr val="087F74"/>
            </a:solidFill>
            <a:tailEnd type="triangle" w="lg" len="med"/>
          </a:ln>
        </p:spPr>
      </p:cxnSp>
      <p:cxnSp>
        <p:nvCxnSpPr>
          <p:cNvPr id="10" name="edge_3"/>
          <p:cNvCxnSpPr/>
          <p:nvPr/>
        </p:nvCxnSpPr>
        <p:spPr>
          <a:xfrm>
            <a:off x="8686583" y="3086109"/>
            <a:ext cx="609585" cy="0"/>
          </a:xfrm>
          <a:prstGeom prst="line">
            <a:avLst/>
          </a:prstGeom>
          <a:noFill/>
          <a:ln w="30480">
            <a:solidFill>
              <a:srgbClr val="087F74"/>
            </a:solidFill>
            <a:tailEnd type="triangle" w="lg" len="med"/>
          </a:ln>
        </p:spPr>
      </p:cxnSp>
      <p:sp>
        <p:nvSpPr>
          <p:cNvPr id="11" name="TextBox 11"/>
          <p:cNvSpPr txBox="1"/>
          <p:nvPr/>
        </p:nvSpPr>
        <p:spPr>
          <a:xfrm>
            <a:off x="609585" y="411555"/>
            <a:ext cx="6857829" cy="68578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479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内容到交付流程</a:t>
            </a:r>
            <a:endParaRPr lang="zh-CN" sz="3479"/>
          </a:p>
        </p:txBody>
      </p:sp>
      <p:sp>
        <p:nvSpPr>
          <p:cNvPr id="12" name="TextBox 12"/>
          <p:cNvSpPr txBox="1"/>
          <p:nvPr/>
        </p:nvSpPr>
        <p:spPr>
          <a:xfrm>
            <a:off x="609585" y="1097338"/>
            <a:ext cx="7619810" cy="39623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8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演示流程：每一阶段都留下可检查的结果。</a:t>
            </a:r>
            <a:endParaRPr lang="zh-CN" sz="1680"/>
          </a:p>
        </p:txBody>
      </p:sp>
      <p:sp>
        <p:nvSpPr>
          <p:cNvPr id="13" name="TextBox 13"/>
          <p:cNvSpPr txBox="1"/>
          <p:nvPr/>
        </p:nvSpPr>
        <p:spPr>
          <a:xfrm>
            <a:off x="792460" y="2453664"/>
            <a:ext cx="609585" cy="33527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1500"/>
          </a:p>
        </p:txBody>
      </p:sp>
      <p:sp>
        <p:nvSpPr>
          <p:cNvPr id="14" name="TextBox 14"/>
          <p:cNvSpPr txBox="1"/>
          <p:nvPr/>
        </p:nvSpPr>
        <p:spPr>
          <a:xfrm>
            <a:off x="792460" y="2865134"/>
            <a:ext cx="1904952" cy="4724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28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问题确认</a:t>
            </a:r>
            <a:endParaRPr lang="zh-CN" sz="2280"/>
          </a:p>
        </p:txBody>
      </p:sp>
      <p:sp>
        <p:nvSpPr>
          <p:cNvPr id="15" name="TextBox 15"/>
          <p:cNvSpPr txBox="1"/>
          <p:nvPr/>
        </p:nvSpPr>
        <p:spPr>
          <a:xfrm>
            <a:off x="792460" y="3413760"/>
            <a:ext cx="1904952" cy="33527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44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输入与验收范围</a:t>
            </a:r>
            <a:endParaRPr lang="zh-CN" sz="1440"/>
          </a:p>
        </p:txBody>
      </p:sp>
      <p:sp>
        <p:nvSpPr>
          <p:cNvPr id="16" name="TextBox 16"/>
          <p:cNvSpPr txBox="1"/>
          <p:nvPr/>
        </p:nvSpPr>
        <p:spPr>
          <a:xfrm>
            <a:off x="3687988" y="2453664"/>
            <a:ext cx="609585" cy="33527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1500"/>
          </a:p>
        </p:txBody>
      </p:sp>
      <p:sp>
        <p:nvSpPr>
          <p:cNvPr id="17" name="TextBox 17"/>
          <p:cNvSpPr txBox="1"/>
          <p:nvPr/>
        </p:nvSpPr>
        <p:spPr>
          <a:xfrm>
            <a:off x="3687988" y="2865134"/>
            <a:ext cx="1904952" cy="4724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28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样例制作</a:t>
            </a:r>
            <a:endParaRPr lang="zh-CN" sz="2280"/>
          </a:p>
        </p:txBody>
      </p:sp>
      <p:sp>
        <p:nvSpPr>
          <p:cNvPr id="18" name="TextBox 18"/>
          <p:cNvSpPr txBox="1"/>
          <p:nvPr/>
        </p:nvSpPr>
        <p:spPr>
          <a:xfrm>
            <a:off x="3687988" y="3413760"/>
            <a:ext cx="1904952" cy="33527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44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可复现的操作过程</a:t>
            </a:r>
            <a:endParaRPr lang="zh-CN" sz="1440"/>
          </a:p>
        </p:txBody>
      </p:sp>
      <p:sp>
        <p:nvSpPr>
          <p:cNvPr id="19" name="TextBox 19"/>
          <p:cNvSpPr txBox="1"/>
          <p:nvPr/>
        </p:nvSpPr>
        <p:spPr>
          <a:xfrm>
            <a:off x="6583515" y="2453664"/>
            <a:ext cx="609585" cy="33527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1500"/>
          </a:p>
        </p:txBody>
      </p:sp>
      <p:sp>
        <p:nvSpPr>
          <p:cNvPr id="20" name="TextBox 20"/>
          <p:cNvSpPr txBox="1"/>
          <p:nvPr/>
        </p:nvSpPr>
        <p:spPr>
          <a:xfrm>
            <a:off x="6583515" y="2865134"/>
            <a:ext cx="1904952" cy="4724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28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发布说明</a:t>
            </a:r>
            <a:endParaRPr lang="zh-CN" sz="2280"/>
          </a:p>
        </p:txBody>
      </p:sp>
      <p:sp>
        <p:nvSpPr>
          <p:cNvPr id="21" name="TextBox 21"/>
          <p:cNvSpPr txBox="1"/>
          <p:nvPr/>
        </p:nvSpPr>
        <p:spPr>
          <a:xfrm>
            <a:off x="6583515" y="3413760"/>
            <a:ext cx="1904952" cy="33527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44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结果与使用边界</a:t>
            </a:r>
            <a:endParaRPr lang="zh-CN" sz="1440"/>
          </a:p>
        </p:txBody>
      </p:sp>
      <p:sp>
        <p:nvSpPr>
          <p:cNvPr id="22" name="TextBox 22"/>
          <p:cNvSpPr txBox="1"/>
          <p:nvPr/>
        </p:nvSpPr>
        <p:spPr>
          <a:xfrm>
            <a:off x="9479043" y="2453664"/>
            <a:ext cx="609585" cy="33527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lang="zh-CN" sz="1500"/>
          </a:p>
        </p:txBody>
      </p:sp>
      <p:sp>
        <p:nvSpPr>
          <p:cNvPr id="23" name="TextBox 23"/>
          <p:cNvSpPr txBox="1"/>
          <p:nvPr/>
        </p:nvSpPr>
        <p:spPr>
          <a:xfrm>
            <a:off x="9479043" y="2865134"/>
            <a:ext cx="1904952" cy="4724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28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交付检查</a:t>
            </a:r>
            <a:endParaRPr lang="zh-CN" sz="2280"/>
          </a:p>
        </p:txBody>
      </p:sp>
      <p:sp>
        <p:nvSpPr>
          <p:cNvPr id="24" name="TextBox 24"/>
          <p:cNvSpPr txBox="1"/>
          <p:nvPr/>
        </p:nvSpPr>
        <p:spPr>
          <a:xfrm>
            <a:off x="9479043" y="3413760"/>
            <a:ext cx="1904952" cy="33527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44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文件与修改记录</a:t>
            </a:r>
            <a:endParaRPr lang="zh-CN" sz="1440"/>
          </a:p>
        </p:txBody>
      </p:sp>
      <p:sp>
        <p:nvSpPr>
          <p:cNvPr id="25" name="TextBox 25"/>
          <p:cNvSpPr txBox="1"/>
          <p:nvPr/>
        </p:nvSpPr>
        <p:spPr>
          <a:xfrm>
            <a:off x="609585" y="4556732"/>
            <a:ext cx="6095848" cy="4724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039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每一步的检查结果</a:t>
            </a:r>
            <a:endParaRPr lang="zh-CN" sz="2039"/>
          </a:p>
        </p:txBody>
      </p:sp>
      <p:sp>
        <p:nvSpPr>
          <p:cNvPr id="26" name="TextBox 26"/>
          <p:cNvSpPr txBox="1"/>
          <p:nvPr/>
        </p:nvSpPr>
        <p:spPr>
          <a:xfrm>
            <a:off x="609585" y="5097738"/>
            <a:ext cx="10667733" cy="39623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8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输入是否完整     过程能否重做     限制是否写明     交付能否编辑</a:t>
            </a:r>
            <a:endParaRPr lang="zh-CN" sz="1680"/>
          </a:p>
        </p:txBody>
      </p:sp>
      <p:sp>
        <p:nvSpPr>
          <p:cNvPr id="27" name="TextBox 27"/>
          <p:cNvSpPr txBox="1"/>
          <p:nvPr/>
        </p:nvSpPr>
        <p:spPr>
          <a:xfrm>
            <a:off x="609585" y="5943537"/>
            <a:ext cx="10667733" cy="38099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演示：节点和箭头应可分别选中，文字应可直接修改。</a:t>
            </a:r>
            <a:endParaRPr lang="zh-CN" sz="1620"/>
          </a:p>
        </p:txBody>
      </p:sp>
      <p:sp>
        <p:nvSpPr>
          <p:cNvPr id="28" name="TextBox 28"/>
          <p:cNvSpPr txBox="1"/>
          <p:nvPr/>
        </p:nvSpPr>
        <p:spPr>
          <a:xfrm>
            <a:off x="609585" y="6370246"/>
            <a:ext cx="10667733" cy="32765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自创演示材料，不代表客户案例、已发布内容或真实成交。</a:t>
            </a:r>
            <a:endParaRPr lang="zh-CN" sz="13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
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NTENTIONAL_FLAT_TEST_FIXTURE" descr="Synthetic source PNG; this intentionally flat slide is not object-editable.">
            <a:extLst>
              <a:ext uri="{FF2B5EF4-FFF2-40B4-BE49-F238E27FC236}">
                <a16:creationId xmlns:a16="http://schemas.microsoft.com/office/drawing/2014/main" id="{2023C36C-1423-26B3-9C96-CD514D39108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_1"/>
          <p:cNvSpPr/>
          <p:nvPr/>
        </p:nvSpPr>
        <p:spPr>
          <a:xfrm>
            <a:off x="609585" y="2286029"/>
            <a:ext cx="2285943" cy="1600160"/>
          </a:xfrm>
          <a:prstGeom prst="rect">
            <a:avLst/>
          </a:prstGeom>
          <a:solidFill>
            <a:srgbClr val="F4F8F6"/>
          </a:solidFill>
          <a:ln w="22860">
            <a:solidFill>
              <a:srgbClr val="087F7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node_2"/>
          <p:cNvSpPr/>
          <p:nvPr/>
        </p:nvSpPr>
        <p:spPr>
          <a:xfrm>
            <a:off x="3505112" y="2286029"/>
            <a:ext cx="2285943" cy="1600160"/>
          </a:xfrm>
          <a:prstGeom prst="rect">
            <a:avLst/>
          </a:prstGeom>
          <a:solidFill>
            <a:srgbClr val="F4F8F6"/>
          </a:solidFill>
          <a:ln w="22860">
            <a:solidFill>
              <a:srgbClr val="087F7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node_3"/>
          <p:cNvSpPr/>
          <p:nvPr/>
        </p:nvSpPr>
        <p:spPr>
          <a:xfrm>
            <a:off x="6400640" y="2286029"/>
            <a:ext cx="2285943" cy="1600160"/>
          </a:xfrm>
          <a:prstGeom prst="rect">
            <a:avLst/>
          </a:prstGeom>
          <a:solidFill>
            <a:srgbClr val="F4F8F6"/>
          </a:solidFill>
          <a:ln w="22860">
            <a:solidFill>
              <a:srgbClr val="087F7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node_4"/>
          <p:cNvSpPr/>
          <p:nvPr/>
        </p:nvSpPr>
        <p:spPr>
          <a:xfrm>
            <a:off x="9296168" y="2286029"/>
            <a:ext cx="2285943" cy="1600160"/>
          </a:xfrm>
          <a:prstGeom prst="rect">
            <a:avLst/>
          </a:prstGeom>
          <a:solidFill>
            <a:srgbClr val="F4F8F6"/>
          </a:solidFill>
          <a:ln w="22860">
            <a:solidFill>
              <a:srgbClr val="087F7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itle_rule"/>
          <p:cNvSpPr/>
          <p:nvPr/>
        </p:nvSpPr>
        <p:spPr>
          <a:xfrm>
            <a:off x="609585" y="1577386"/>
            <a:ext cx="10972526" cy="0"/>
          </a:xfrm>
          <a:prstGeom prst="line">
            <a:avLst/>
          </a:prstGeom>
          <a:noFill/>
          <a:ln w="30480">
            <a:solidFill>
              <a:srgbClr val="087F7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footer_rule"/>
          <p:cNvSpPr/>
          <p:nvPr/>
        </p:nvSpPr>
        <p:spPr>
          <a:xfrm>
            <a:off x="609585" y="5638745"/>
            <a:ext cx="10972526" cy="0"/>
          </a:xfrm>
          <a:prstGeom prst="line">
            <a:avLst/>
          </a:prstGeom>
          <a:noFill/>
          <a:ln w="15240">
            <a:solidFill>
              <a:srgbClr val="CEDAD7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8" name="edge_1"/>
          <p:cNvCxnSpPr/>
          <p:nvPr/>
        </p:nvCxnSpPr>
        <p:spPr>
          <a:xfrm>
            <a:off x="2895528" y="3086109"/>
            <a:ext cx="609585" cy="0"/>
          </a:xfrm>
          <a:prstGeom prst="line">
            <a:avLst/>
          </a:prstGeom>
          <a:noFill/>
          <a:ln w="30480">
            <a:solidFill>
              <a:srgbClr val="087F74"/>
            </a:solidFill>
            <a:tailEnd type="triangle" w="lg" len="med"/>
          </a:ln>
        </p:spPr>
      </p:cxnSp>
      <p:cxnSp>
        <p:nvCxnSpPr>
          <p:cNvPr id="9" name="edge_2"/>
          <p:cNvCxnSpPr/>
          <p:nvPr/>
        </p:nvCxnSpPr>
        <p:spPr>
          <a:xfrm>
            <a:off x="5791055" y="3086109"/>
            <a:ext cx="609585" cy="0"/>
          </a:xfrm>
          <a:prstGeom prst="line">
            <a:avLst/>
          </a:prstGeom>
          <a:noFill/>
          <a:ln w="30480">
            <a:solidFill>
              <a:srgbClr val="087F74"/>
            </a:solidFill>
            <a:tailEnd type="triangle" w="lg" len="med"/>
          </a:ln>
        </p:spPr>
      </p:cxnSp>
      <p:cxnSp>
        <p:nvCxnSpPr>
          <p:cNvPr id="10" name="edge_3"/>
          <p:cNvCxnSpPr/>
          <p:nvPr/>
        </p:nvCxnSpPr>
        <p:spPr>
          <a:xfrm>
            <a:off x="8686583" y="3086109"/>
            <a:ext cx="609585" cy="0"/>
          </a:xfrm>
          <a:prstGeom prst="line">
            <a:avLst/>
          </a:prstGeom>
          <a:noFill/>
          <a:ln w="30480">
            <a:solidFill>
              <a:srgbClr val="087F74"/>
            </a:solidFill>
            <a:tailEnd type="triangle" w="lg" len="med"/>
          </a:ln>
        </p:spPr>
      </p:cxnSp>
      <p:sp>
        <p:nvSpPr>
          <p:cNvPr id="11" name="TextBox 11"/>
          <p:cNvSpPr txBox="1"/>
          <p:nvPr/>
        </p:nvSpPr>
        <p:spPr>
          <a:xfrm>
            <a:off x="609585" y="411555"/>
            <a:ext cx="6857829" cy="6857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479" b="1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内容到交付流程</a:t>
            </a:r>
            <a:endParaRPr lang="zh-CN" sz="3479"/>
          </a:p>
        </p:txBody>
      </p:sp>
      <p:sp>
        <p:nvSpPr>
          <p:cNvPr id="12" name="TextBox 12"/>
          <p:cNvSpPr txBox="1"/>
          <p:nvPr/>
        </p:nvSpPr>
        <p:spPr>
          <a:xfrm>
            <a:off x="609585" y="1097338"/>
            <a:ext cx="7619810" cy="3962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8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演示流程：每一阶段都留下可检查的结果。</a:t>
            </a:r>
            <a:endParaRPr lang="zh-CN" sz="1680"/>
          </a:p>
        </p:txBody>
      </p:sp>
      <p:sp>
        <p:nvSpPr>
          <p:cNvPr id="13" name="TextBox 13"/>
          <p:cNvSpPr txBox="1"/>
          <p:nvPr/>
        </p:nvSpPr>
        <p:spPr>
          <a:xfrm>
            <a:off x="792460" y="2453664"/>
            <a:ext cx="609585" cy="33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087F74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lang="zh-CN" sz="1500"/>
          </a:p>
        </p:txBody>
      </p:sp>
      <p:sp>
        <p:nvSpPr>
          <p:cNvPr id="14" name="TextBox 14"/>
          <p:cNvSpPr txBox="1"/>
          <p:nvPr/>
        </p:nvSpPr>
        <p:spPr>
          <a:xfrm>
            <a:off x="792460" y="2865134"/>
            <a:ext cx="1904952" cy="4724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80" b="1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问题确认</a:t>
            </a:r>
            <a:endParaRPr lang="zh-CN" sz="2280"/>
          </a:p>
        </p:txBody>
      </p:sp>
      <p:sp>
        <p:nvSpPr>
          <p:cNvPr id="15" name="TextBox 15"/>
          <p:cNvSpPr txBox="1"/>
          <p:nvPr/>
        </p:nvSpPr>
        <p:spPr>
          <a:xfrm>
            <a:off x="792460" y="3413760"/>
            <a:ext cx="1904952" cy="33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4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输入与验收范围</a:t>
            </a:r>
            <a:endParaRPr lang="zh-CN" sz="1440"/>
          </a:p>
        </p:txBody>
      </p:sp>
      <p:sp>
        <p:nvSpPr>
          <p:cNvPr id="16" name="TextBox 16"/>
          <p:cNvSpPr txBox="1"/>
          <p:nvPr/>
        </p:nvSpPr>
        <p:spPr>
          <a:xfrm>
            <a:off x="3687988" y="2453664"/>
            <a:ext cx="609585" cy="33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087F74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lang="zh-CN" sz="1500"/>
          </a:p>
        </p:txBody>
      </p:sp>
      <p:sp>
        <p:nvSpPr>
          <p:cNvPr id="17" name="TextBox 17"/>
          <p:cNvSpPr txBox="1"/>
          <p:nvPr/>
        </p:nvSpPr>
        <p:spPr>
          <a:xfrm>
            <a:off x="3687988" y="2865134"/>
            <a:ext cx="1904952" cy="4724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80" b="1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样例制作</a:t>
            </a:r>
            <a:endParaRPr lang="zh-CN" sz="2280"/>
          </a:p>
        </p:txBody>
      </p:sp>
      <p:sp>
        <p:nvSpPr>
          <p:cNvPr id="18" name="TextBox 18"/>
          <p:cNvSpPr txBox="1"/>
          <p:nvPr/>
        </p:nvSpPr>
        <p:spPr>
          <a:xfrm>
            <a:off x="3687988" y="3413760"/>
            <a:ext cx="1904952" cy="33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4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可复现的操作过程</a:t>
            </a:r>
            <a:endParaRPr lang="zh-CN" sz="1440"/>
          </a:p>
        </p:txBody>
      </p:sp>
      <p:sp>
        <p:nvSpPr>
          <p:cNvPr id="19" name="TextBox 19"/>
          <p:cNvSpPr txBox="1"/>
          <p:nvPr/>
        </p:nvSpPr>
        <p:spPr>
          <a:xfrm>
            <a:off x="6583515" y="2453664"/>
            <a:ext cx="609585" cy="33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087F74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lang="zh-CN" sz="1500"/>
          </a:p>
        </p:txBody>
      </p:sp>
      <p:sp>
        <p:nvSpPr>
          <p:cNvPr id="20" name="TextBox 20"/>
          <p:cNvSpPr txBox="1"/>
          <p:nvPr/>
        </p:nvSpPr>
        <p:spPr>
          <a:xfrm>
            <a:off x="6583515" y="2865134"/>
            <a:ext cx="1904952" cy="4724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80" b="1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发布说明</a:t>
            </a:r>
            <a:endParaRPr lang="zh-CN" sz="2280"/>
          </a:p>
        </p:txBody>
      </p:sp>
      <p:sp>
        <p:nvSpPr>
          <p:cNvPr id="21" name="TextBox 21"/>
          <p:cNvSpPr txBox="1"/>
          <p:nvPr/>
        </p:nvSpPr>
        <p:spPr>
          <a:xfrm>
            <a:off x="6583515" y="3413760"/>
            <a:ext cx="1904952" cy="33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4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结果与使用边界</a:t>
            </a:r>
            <a:endParaRPr lang="zh-CN" sz="1440"/>
          </a:p>
        </p:txBody>
      </p:sp>
      <p:sp>
        <p:nvSpPr>
          <p:cNvPr id="22" name="TextBox 22"/>
          <p:cNvSpPr txBox="1"/>
          <p:nvPr/>
        </p:nvSpPr>
        <p:spPr>
          <a:xfrm>
            <a:off x="9479043" y="2453664"/>
            <a:ext cx="609585" cy="33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087F74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lang="zh-CN" sz="1500"/>
          </a:p>
        </p:txBody>
      </p:sp>
      <p:sp>
        <p:nvSpPr>
          <p:cNvPr id="23" name="TextBox 23"/>
          <p:cNvSpPr txBox="1"/>
          <p:nvPr/>
        </p:nvSpPr>
        <p:spPr>
          <a:xfrm>
            <a:off x="9479043" y="2865134"/>
            <a:ext cx="1904952" cy="4724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280" b="1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交付检查</a:t>
            </a:r>
            <a:endParaRPr lang="zh-CN" sz="2280"/>
          </a:p>
        </p:txBody>
      </p:sp>
      <p:sp>
        <p:nvSpPr>
          <p:cNvPr id="24" name="TextBox 24"/>
          <p:cNvSpPr txBox="1"/>
          <p:nvPr/>
        </p:nvSpPr>
        <p:spPr>
          <a:xfrm>
            <a:off x="9479043" y="3413760"/>
            <a:ext cx="1904952" cy="3352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4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文件与修改记录</a:t>
            </a:r>
            <a:endParaRPr lang="zh-CN" sz="1440"/>
          </a:p>
        </p:txBody>
      </p:sp>
      <p:sp>
        <p:nvSpPr>
          <p:cNvPr id="25" name="TextBox 25"/>
          <p:cNvSpPr txBox="1"/>
          <p:nvPr/>
        </p:nvSpPr>
        <p:spPr>
          <a:xfrm>
            <a:off x="609585" y="4556732"/>
            <a:ext cx="6095848" cy="4724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039" b="1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每一步的检查结果</a:t>
            </a:r>
            <a:endParaRPr lang="zh-CN" sz="2039"/>
          </a:p>
        </p:txBody>
      </p:sp>
      <p:sp>
        <p:nvSpPr>
          <p:cNvPr id="26" name="TextBox 26"/>
          <p:cNvSpPr txBox="1"/>
          <p:nvPr/>
        </p:nvSpPr>
        <p:spPr>
          <a:xfrm>
            <a:off x="609585" y="5097738"/>
            <a:ext cx="10667733" cy="3962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8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输入是否完整     过程能否重做     限制是否写明     交付能否编辑</a:t>
            </a:r>
            <a:endParaRPr lang="zh-CN" sz="1680"/>
          </a:p>
        </p:txBody>
      </p:sp>
      <p:sp>
        <p:nvSpPr>
          <p:cNvPr id="27" name="TextBox 27"/>
          <p:cNvSpPr txBox="1"/>
          <p:nvPr/>
        </p:nvSpPr>
        <p:spPr>
          <a:xfrm>
            <a:off x="609585" y="5943537"/>
            <a:ext cx="10667733" cy="3809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20">
                <a:solidFill>
                  <a:srgbClr val="172B2A"/>
                </a:solidFill>
                <a:latin typeface="Microsoft YaHei"/>
                <a:ea typeface="Microsoft YaHei"/>
                <a:cs typeface="Microsoft YaHei"/>
              </a:rPr>
              <a:t>演示：节点和箭头应可分别选中，文字应可直接修改。</a:t>
            </a:r>
            <a:endParaRPr lang="zh-CN" sz="1620"/>
          </a:p>
        </p:txBody>
      </p:sp>
      <p:sp>
        <p:nvSpPr>
          <p:cNvPr id="28" name="TextBox 28"/>
          <p:cNvSpPr txBox="1"/>
          <p:nvPr/>
        </p:nvSpPr>
        <p:spPr>
          <a:xfrm>
            <a:off x="609585" y="6370246"/>
            <a:ext cx="10667733" cy="3276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320">
                <a:solidFill>
                  <a:srgbClr val="566765"/>
                </a:solidFill>
                <a:latin typeface="Microsoft YaHei"/>
                <a:ea typeface="Microsoft YaHei"/>
                <a:cs typeface="Microsoft YaHei"/>
              </a:rPr>
              <a:t>自创演示材料，不代表客户案例、已发布内容或真实成交。</a:t>
            </a:r>
            <a:endParaRPr lang="zh-CN" sz="13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PresentationFormat>宽屏</PresentationFormat>
  <Paragraphs>18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Microsoft YaHei</vt:lpstr>
      <vt:lpstr>Arial</vt:lpstr>
      <vt:lpstr>ImageToEditablePPT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Image to editable PPT</dc:title>
  <cp:lastModifiedBy/>
  <cp:revision>1</cp:revision>
  <dcterms:modified xsi:type="dcterms:W3CDTF">2026-10-29T15:42:11Z</dcterms:modified>
</cp:coreProperties>
</file>